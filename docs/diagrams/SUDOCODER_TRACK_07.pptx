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Montserrat SemiBold"/>
      <p:regular r:id="rId18"/>
      <p:bold r:id="rId19"/>
      <p:italic r:id="rId20"/>
      <p:boldItalic r:id="rId21"/>
    </p:embeddedFont>
    <p:embeddedFont>
      <p:font typeface="Roboto"/>
      <p:regular r:id="rId22"/>
      <p:bold r:id="rId23"/>
      <p:italic r:id="rId24"/>
      <p:boldItalic r:id="rId25"/>
    </p:embeddedFont>
    <p:embeddedFont>
      <p:font typeface="Montserrat"/>
      <p:bold r:id="rId26"/>
      <p:boldItalic r:id="rId27"/>
    </p:embeddedFont>
    <p:embeddedFont>
      <p:font typeface="Montserrat Medium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SemiBold-italic.fntdata"/><Relationship Id="rId22" Type="http://schemas.openxmlformats.org/officeDocument/2006/relationships/font" Target="fonts/Roboto-regular.fntdata"/><Relationship Id="rId21" Type="http://schemas.openxmlformats.org/officeDocument/2006/relationships/font" Target="fonts/MontserratSemiBold-boldItalic.fntdata"/><Relationship Id="rId24" Type="http://schemas.openxmlformats.org/officeDocument/2006/relationships/font" Target="fonts/Roboto-italic.fntdata"/><Relationship Id="rId23" Type="http://schemas.openxmlformats.org/officeDocument/2006/relationships/font" Target="fonts/Robot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-bold.fntdata"/><Relationship Id="rId25" Type="http://schemas.openxmlformats.org/officeDocument/2006/relationships/font" Target="fonts/Roboto-boldItalic.fntdata"/><Relationship Id="rId28" Type="http://schemas.openxmlformats.org/officeDocument/2006/relationships/font" Target="fonts/MontserratMedium-regular.fntdata"/><Relationship Id="rId27" Type="http://schemas.openxmlformats.org/officeDocument/2006/relationships/font" Target="fonts/Montserrat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Medium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ontserratMedium-boldItalic.fntdata"/><Relationship Id="rId30" Type="http://schemas.openxmlformats.org/officeDocument/2006/relationships/font" Target="fonts/MontserratMedium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MontserratSemiBold-bold.fntdata"/><Relationship Id="rId18" Type="http://schemas.openxmlformats.org/officeDocument/2006/relationships/font" Target="fonts/MontserratSemiBo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b308cd0a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fb308cd0a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fb308cd0a9_8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fb308cd0a9_8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b308cd0a9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b308cd0a9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b308cd0a9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b308cd0a9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409b9dedbc9_89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409b9dedbc9_89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fb308cd0a9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fb308cd0a9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fb308cd0a9_8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fb308cd0a9_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b308cd0a9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b308cd0a9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fb308cd0a9_8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fb308cd0a9_8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fb308cd0a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fb308cd0a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fb308cd0a9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fb308cd0a9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fb308cd0a9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fb308cd0a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9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Relationship Id="rId4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Relationship Id="rId4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13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FIRST SLID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48425" y="0"/>
            <a:ext cx="9292426" cy="522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48425" y="0"/>
            <a:ext cx="9292500" cy="52269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0" name="Google Shape;60;p14"/>
          <p:cNvGrpSpPr/>
          <p:nvPr/>
        </p:nvGrpSpPr>
        <p:grpSpPr>
          <a:xfrm>
            <a:off x="571500" y="952500"/>
            <a:ext cx="3810000" cy="1428900"/>
            <a:chOff x="0" y="0"/>
            <a:chExt cx="3810000" cy="1428900"/>
          </a:xfrm>
        </p:grpSpPr>
        <p:sp>
          <p:nvSpPr>
            <p:cNvPr id="61" name="Google Shape;61;p14"/>
            <p:cNvSpPr/>
            <p:nvPr/>
          </p:nvSpPr>
          <p:spPr>
            <a:xfrm>
              <a:off x="0" y="0"/>
              <a:ext cx="3810000" cy="1428900"/>
            </a:xfrm>
            <a:prstGeom prst="roundRect">
              <a:avLst>
                <a:gd fmla="val 8000" name="adj"/>
              </a:avLst>
            </a:prstGeom>
            <a:solidFill>
              <a:srgbClr val="0B132B">
                <a:alpha val="80000"/>
              </a:srgbClr>
            </a:solidFill>
            <a:ln cap="flat" cmpd="sng" w="14300">
              <a:solidFill>
                <a:srgbClr val="00B4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90500" y="471488"/>
              <a:ext cx="3390900" cy="9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" name="Google Shape;63;p14"/>
            <p:cNvSpPr txBox="1"/>
            <p:nvPr/>
          </p:nvSpPr>
          <p:spPr>
            <a:xfrm>
              <a:off x="0" y="0"/>
              <a:ext cx="38100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00F0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PROJECT TITLE</a:t>
              </a:r>
              <a:endParaRPr b="1" sz="1000">
                <a:solidFill>
                  <a:srgbClr val="00F0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1875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SIREN</a:t>
              </a:r>
              <a:endParaRPr b="0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grpSp>
        <p:nvGrpSpPr>
          <p:cNvPr id="64" name="Google Shape;64;p14"/>
          <p:cNvGrpSpPr/>
          <p:nvPr/>
        </p:nvGrpSpPr>
        <p:grpSpPr>
          <a:xfrm>
            <a:off x="571500" y="2667000"/>
            <a:ext cx="3810000" cy="1428900"/>
            <a:chOff x="0" y="0"/>
            <a:chExt cx="3810000" cy="1428900"/>
          </a:xfrm>
        </p:grpSpPr>
        <p:sp>
          <p:nvSpPr>
            <p:cNvPr id="65" name="Google Shape;65;p14"/>
            <p:cNvSpPr/>
            <p:nvPr/>
          </p:nvSpPr>
          <p:spPr>
            <a:xfrm>
              <a:off x="0" y="0"/>
              <a:ext cx="3810000" cy="1428900"/>
            </a:xfrm>
            <a:prstGeom prst="roundRect">
              <a:avLst>
                <a:gd fmla="val 8000" name="adj"/>
              </a:avLst>
            </a:prstGeom>
            <a:solidFill>
              <a:srgbClr val="0B132B">
                <a:alpha val="80000"/>
              </a:srgbClr>
            </a:solidFill>
            <a:ln cap="flat" cmpd="sng" w="14300">
              <a:solidFill>
                <a:srgbClr val="00B4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6" name="Google Shape;66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90500" y="471488"/>
              <a:ext cx="3390900" cy="9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7" name="Google Shape;67;p14"/>
            <p:cNvSpPr txBox="1"/>
            <p:nvPr/>
          </p:nvSpPr>
          <p:spPr>
            <a:xfrm>
              <a:off x="0" y="0"/>
              <a:ext cx="38100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00F0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TEAM NAME</a:t>
              </a:r>
              <a:endParaRPr b="1" sz="1000">
                <a:solidFill>
                  <a:srgbClr val="00F0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1875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SUDOCODER</a:t>
              </a:r>
              <a:endParaRPr b="0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grpSp>
        <p:nvGrpSpPr>
          <p:cNvPr id="68" name="Google Shape;68;p14"/>
          <p:cNvGrpSpPr/>
          <p:nvPr/>
        </p:nvGrpSpPr>
        <p:grpSpPr>
          <a:xfrm>
            <a:off x="4762500" y="952500"/>
            <a:ext cx="3810000" cy="3143400"/>
            <a:chOff x="0" y="0"/>
            <a:chExt cx="3810000" cy="3143400"/>
          </a:xfrm>
        </p:grpSpPr>
        <p:sp>
          <p:nvSpPr>
            <p:cNvPr id="69" name="Google Shape;69;p14"/>
            <p:cNvSpPr/>
            <p:nvPr/>
          </p:nvSpPr>
          <p:spPr>
            <a:xfrm>
              <a:off x="0" y="0"/>
              <a:ext cx="3810000" cy="3143400"/>
            </a:xfrm>
            <a:prstGeom prst="roundRect">
              <a:avLst>
                <a:gd fmla="val 3636" name="adj"/>
              </a:avLst>
            </a:prstGeom>
            <a:solidFill>
              <a:srgbClr val="0B132B">
                <a:alpha val="80000"/>
              </a:srgbClr>
            </a:solidFill>
            <a:ln cap="flat" cmpd="sng" w="14300">
              <a:solidFill>
                <a:srgbClr val="FFB70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0" name="Google Shape;70;p1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90500" y="471488"/>
              <a:ext cx="3390900" cy="9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1" name="Google Shape;71;p14"/>
            <p:cNvSpPr txBox="1"/>
            <p:nvPr/>
          </p:nvSpPr>
          <p:spPr>
            <a:xfrm>
              <a:off x="0" y="0"/>
              <a:ext cx="3810000" cy="314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FFB70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TEAM MEMBERS</a:t>
              </a:r>
              <a:endParaRPr b="1" sz="1000">
                <a:solidFill>
                  <a:srgbClr val="FFB703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1875"/>
                </a:spcBef>
                <a:spcAft>
                  <a:spcPts val="90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Evin Brijesh</a:t>
              </a:r>
              <a:endParaRPr b="0" sz="1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oogle Shape;76;p15"/>
          <p:cNvGrpSpPr/>
          <p:nvPr/>
        </p:nvGrpSpPr>
        <p:grpSpPr>
          <a:xfrm>
            <a:off x="571500" y="428625"/>
            <a:ext cx="8001000" cy="571500"/>
            <a:chOff x="0" y="0"/>
            <a:chExt cx="8001000" cy="571500"/>
          </a:xfrm>
        </p:grpSpPr>
        <p:sp>
          <p:nvSpPr>
            <p:cNvPr id="77" name="Google Shape;77;p15"/>
            <p:cNvSpPr/>
            <p:nvPr/>
          </p:nvSpPr>
          <p:spPr>
            <a:xfrm>
              <a:off x="0" y="0"/>
              <a:ext cx="80010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15"/>
            <p:cNvSpPr txBox="1"/>
            <p:nvPr/>
          </p:nvSpPr>
          <p:spPr>
            <a:xfrm>
              <a:off x="0" y="0"/>
              <a:ext cx="8001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Problem Statement</a:t>
              </a:r>
              <a:endParaRPr b="1" sz="2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79" name="Google Shape;79;p15"/>
          <p:cNvGrpSpPr/>
          <p:nvPr/>
        </p:nvGrpSpPr>
        <p:grpSpPr>
          <a:xfrm>
            <a:off x="571500" y="1333500"/>
            <a:ext cx="2476500" cy="3048000"/>
            <a:chOff x="0" y="0"/>
            <a:chExt cx="2476500" cy="3048000"/>
          </a:xfrm>
        </p:grpSpPr>
        <p:sp>
          <p:nvSpPr>
            <p:cNvPr id="80" name="Google Shape;80;p15"/>
            <p:cNvSpPr/>
            <p:nvPr/>
          </p:nvSpPr>
          <p:spPr>
            <a:xfrm>
              <a:off x="0" y="0"/>
              <a:ext cx="2476500" cy="3048000"/>
            </a:xfrm>
            <a:prstGeom prst="roundRect">
              <a:avLst>
                <a:gd fmla="val 4615" name="adj"/>
              </a:avLst>
            </a:prstGeom>
            <a:solidFill>
              <a:srgbClr val="0B132B">
                <a:alpha val="85000"/>
              </a:srgbClr>
            </a:solidFill>
            <a:ln cap="flat" cmpd="sng" w="14300">
              <a:solidFill>
                <a:srgbClr val="00B4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15"/>
            <p:cNvSpPr txBox="1"/>
            <p:nvPr/>
          </p:nvSpPr>
          <p:spPr>
            <a:xfrm>
              <a:off x="0" y="0"/>
              <a:ext cx="24765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00F0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THE CORE PROBLEM</a:t>
              </a:r>
              <a:endParaRPr b="1" sz="1000">
                <a:solidFill>
                  <a:srgbClr val="00F0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CCCCCC"/>
                  </a:solidFill>
                </a:rPr>
                <a:t>Satellite data exists, but is disconnected from ground response—leaving emergency teams blind to immediate threats and exposure.</a:t>
              </a:r>
              <a:endParaRPr>
                <a:solidFill>
                  <a:srgbClr val="FFFFFF"/>
                </a:solidFill>
              </a:endParaRPr>
            </a:p>
          </p:txBody>
        </p:sp>
      </p:grpSp>
      <p:grpSp>
        <p:nvGrpSpPr>
          <p:cNvPr id="82" name="Google Shape;82;p15"/>
          <p:cNvGrpSpPr/>
          <p:nvPr/>
        </p:nvGrpSpPr>
        <p:grpSpPr>
          <a:xfrm>
            <a:off x="3333750" y="1333500"/>
            <a:ext cx="2476500" cy="3048000"/>
            <a:chOff x="0" y="0"/>
            <a:chExt cx="2476500" cy="3048000"/>
          </a:xfrm>
        </p:grpSpPr>
        <p:sp>
          <p:nvSpPr>
            <p:cNvPr id="83" name="Google Shape;83;p15"/>
            <p:cNvSpPr/>
            <p:nvPr/>
          </p:nvSpPr>
          <p:spPr>
            <a:xfrm>
              <a:off x="0" y="0"/>
              <a:ext cx="2476500" cy="3048000"/>
            </a:xfrm>
            <a:prstGeom prst="roundRect">
              <a:avLst>
                <a:gd fmla="val 4615" name="adj"/>
              </a:avLst>
            </a:prstGeom>
            <a:solidFill>
              <a:srgbClr val="0B132B">
                <a:alpha val="85000"/>
              </a:srgbClr>
            </a:solidFill>
            <a:ln cap="flat" cmpd="sng" w="14300">
              <a:solidFill>
                <a:srgbClr val="00B4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15"/>
            <p:cNvSpPr txBox="1"/>
            <p:nvPr/>
          </p:nvSpPr>
          <p:spPr>
            <a:xfrm>
              <a:off x="0" y="0"/>
              <a:ext cx="24765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00F0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TARGET AUDIENCE</a:t>
              </a:r>
              <a:endParaRPr b="1" sz="1000">
                <a:solidFill>
                  <a:srgbClr val="00F0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311150" lvl="0" marL="457200" rtl="0" algn="l">
                <a:lnSpc>
                  <a:spcPct val="11500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CCCCCC"/>
                </a:buClr>
                <a:buSzPts val="1300"/>
                <a:buFont typeface="Roboto"/>
                <a:buChar char="●"/>
              </a:pPr>
              <a:r>
                <a:rPr b="1" lang="en" sz="1300">
                  <a:solidFill>
                    <a:srgbClr val="CCCCCC"/>
                  </a:solidFill>
                  <a:highlight>
                    <a:srgbClr val="101010"/>
                  </a:highlight>
                </a:rPr>
                <a:t>Emergency Operations Centers</a:t>
              </a:r>
              <a:r>
                <a:rPr lang="en" sz="1300">
                  <a:solidFill>
                    <a:srgbClr val="CCCCCC"/>
                  </a:solidFill>
                  <a:highlight>
                    <a:srgbClr val="101010"/>
                  </a:highlight>
                </a:rPr>
                <a:t> (NDMA / SDMA)</a:t>
              </a:r>
              <a:endParaRPr sz="1300">
                <a:solidFill>
                  <a:srgbClr val="CCCCCC"/>
                </a:solidFill>
                <a:highlight>
                  <a:srgbClr val="101010"/>
                </a:highlight>
              </a:endParaRPr>
            </a:p>
            <a:p>
              <a:pPr indent="-3111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CCCC"/>
                </a:buClr>
                <a:buSzPts val="1300"/>
                <a:buFont typeface="Roboto"/>
                <a:buChar char="●"/>
              </a:pPr>
              <a:r>
                <a:rPr b="1" lang="en" sz="1300">
                  <a:solidFill>
                    <a:srgbClr val="CCCCCC"/>
                  </a:solidFill>
                  <a:highlight>
                    <a:srgbClr val="101010"/>
                  </a:highlight>
                </a:rPr>
                <a:t>Search &amp; Rescue Teams</a:t>
              </a:r>
              <a:r>
                <a:rPr lang="en" sz="1300">
                  <a:solidFill>
                    <a:srgbClr val="CCCCCC"/>
                  </a:solidFill>
                  <a:highlight>
                    <a:srgbClr val="101010"/>
                  </a:highlight>
                </a:rPr>
                <a:t> (First Responders)</a:t>
              </a:r>
              <a:endParaRPr sz="1300">
                <a:solidFill>
                  <a:srgbClr val="CCCCCC"/>
                </a:solidFill>
                <a:highlight>
                  <a:srgbClr val="101010"/>
                </a:highlight>
              </a:endParaRPr>
            </a:p>
            <a:p>
              <a:pPr indent="-3111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CCCC"/>
                </a:buClr>
                <a:buSzPts val="1300"/>
                <a:buFont typeface="Roboto"/>
                <a:buChar char="●"/>
              </a:pPr>
              <a:r>
                <a:rPr b="1" lang="en" sz="1300">
                  <a:solidFill>
                    <a:srgbClr val="CCCCCC"/>
                  </a:solidFill>
                  <a:highlight>
                    <a:srgbClr val="101010"/>
                  </a:highlight>
                </a:rPr>
                <a:t>Public Health &amp; Water Teams</a:t>
              </a:r>
              <a:r>
                <a:rPr lang="en" sz="1300">
                  <a:solidFill>
                    <a:srgbClr val="CCCCCC"/>
                  </a:solidFill>
                  <a:highlight>
                    <a:srgbClr val="101010"/>
                  </a:highlight>
                </a:rPr>
                <a:t> (WASH)</a:t>
              </a:r>
              <a:endParaRPr sz="1300">
                <a:solidFill>
                  <a:srgbClr val="CCCCCC"/>
                </a:solidFill>
                <a:highlight>
                  <a:srgbClr val="101010"/>
                </a:highlight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050">
                <a:solidFill>
                  <a:srgbClr val="CCCCCC"/>
                </a:solidFill>
                <a:highlight>
                  <a:srgbClr val="101010"/>
                </a:highlight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85" name="Google Shape;85;p15"/>
          <p:cNvGrpSpPr/>
          <p:nvPr/>
        </p:nvGrpSpPr>
        <p:grpSpPr>
          <a:xfrm>
            <a:off x="6096000" y="1333500"/>
            <a:ext cx="2476500" cy="3048000"/>
            <a:chOff x="0" y="0"/>
            <a:chExt cx="2476500" cy="3048000"/>
          </a:xfrm>
        </p:grpSpPr>
        <p:sp>
          <p:nvSpPr>
            <p:cNvPr id="86" name="Google Shape;86;p15"/>
            <p:cNvSpPr/>
            <p:nvPr/>
          </p:nvSpPr>
          <p:spPr>
            <a:xfrm>
              <a:off x="0" y="0"/>
              <a:ext cx="2476500" cy="3048000"/>
            </a:xfrm>
            <a:prstGeom prst="roundRect">
              <a:avLst>
                <a:gd fmla="val 4615" name="adj"/>
              </a:avLst>
            </a:prstGeom>
            <a:solidFill>
              <a:srgbClr val="0B132B">
                <a:alpha val="85000"/>
              </a:srgbClr>
            </a:solidFill>
            <a:ln cap="flat" cmpd="sng" w="14300">
              <a:solidFill>
                <a:srgbClr val="FFB70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5"/>
            <p:cNvSpPr txBox="1"/>
            <p:nvPr/>
          </p:nvSpPr>
          <p:spPr>
            <a:xfrm>
              <a:off x="0" y="0"/>
              <a:ext cx="24765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FFB70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CURRENT GAPS</a:t>
              </a:r>
              <a:endParaRPr b="1" sz="1000">
                <a:solidFill>
                  <a:srgbClr val="FFB703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317500" lvl="0" marL="457200" rtl="0" algn="l">
                <a:lnSpc>
                  <a:spcPct val="11500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CCCCCC"/>
                </a:buClr>
                <a:buSzPts val="1400"/>
                <a:buFont typeface="Roboto"/>
                <a:buChar char="●"/>
              </a:pPr>
              <a:r>
                <a:rPr b="1" lang="en">
                  <a:solidFill>
                    <a:srgbClr val="CCCCCC"/>
                  </a:solidFill>
                  <a:highlight>
                    <a:srgbClr val="101010"/>
                  </a:highlight>
                </a:rPr>
                <a:t>Cloud Blindness:</a:t>
              </a:r>
              <a:r>
                <a:rPr lang="en">
                  <a:solidFill>
                    <a:srgbClr val="CCCCCC"/>
                  </a:solidFill>
                  <a:highlight>
                    <a:srgbClr val="101010"/>
                  </a:highlight>
                </a:rPr>
                <a:t> Optical satellites fail during storms</a:t>
              </a:r>
              <a:endParaRPr>
                <a:solidFill>
                  <a:srgbClr val="CCCCCC"/>
                </a:solidFill>
                <a:highlight>
                  <a:srgbClr val="101010"/>
                </a:highlight>
              </a:endParaRPr>
            </a:p>
            <a:p>
              <a:pPr indent="-3175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CCCC"/>
                </a:buClr>
                <a:buSzPts val="1400"/>
                <a:buFont typeface="Roboto"/>
                <a:buChar char="●"/>
              </a:pPr>
              <a:r>
                <a:rPr b="1" lang="en">
                  <a:solidFill>
                    <a:srgbClr val="CCCCCC"/>
                  </a:solidFill>
                  <a:highlight>
                    <a:srgbClr val="101010"/>
                  </a:highlight>
                </a:rPr>
                <a:t>Hours of Delay:</a:t>
              </a:r>
              <a:r>
                <a:rPr lang="en">
                  <a:solidFill>
                    <a:srgbClr val="CCCCCC"/>
                  </a:solidFill>
                  <a:highlight>
                    <a:srgbClr val="101010"/>
                  </a:highlight>
                </a:rPr>
                <a:t> Manual GIS analysis is too slow</a:t>
              </a:r>
              <a:endParaRPr>
                <a:solidFill>
                  <a:srgbClr val="CCCCCC"/>
                </a:solidFill>
                <a:highlight>
                  <a:srgbClr val="101010"/>
                </a:highlight>
              </a:endParaRPr>
            </a:p>
            <a:p>
              <a:pPr indent="-3175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CCCC"/>
                </a:buClr>
                <a:buSzPts val="1400"/>
                <a:buFont typeface="Roboto"/>
                <a:buChar char="●"/>
              </a:pPr>
              <a:r>
                <a:rPr b="1" lang="en">
                  <a:solidFill>
                    <a:srgbClr val="CCCCCC"/>
                  </a:solidFill>
                  <a:highlight>
                    <a:srgbClr val="101010"/>
                  </a:highlight>
                </a:rPr>
                <a:t>Network Collapse:</a:t>
              </a:r>
              <a:r>
                <a:rPr lang="en">
                  <a:solidFill>
                    <a:srgbClr val="CCCCCC"/>
                  </a:solidFill>
                  <a:highlight>
                    <a:srgbClr val="101010"/>
                  </a:highlight>
                </a:rPr>
                <a:t> Alerts fail when cell towers go down</a:t>
              </a:r>
              <a:endParaRPr>
                <a:solidFill>
                  <a:srgbClr val="CCCCCC"/>
                </a:solidFill>
                <a:highlight>
                  <a:srgbClr val="101010"/>
                </a:highlight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050">
                <a:solidFill>
                  <a:srgbClr val="CCCCCC"/>
                </a:solidFill>
                <a:highlight>
                  <a:srgbClr val="101010"/>
                </a:highlight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6"/>
          <p:cNvPicPr preferRelativeResize="0"/>
          <p:nvPr/>
        </p:nvPicPr>
        <p:blipFill rotWithShape="1">
          <a:blip r:embed="rId3">
            <a:alphaModFix/>
          </a:blip>
          <a:srcRect b="0" l="387" r="387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3" name="Google Shape;93;p16"/>
          <p:cNvGrpSpPr/>
          <p:nvPr/>
        </p:nvGrpSpPr>
        <p:grpSpPr>
          <a:xfrm>
            <a:off x="571500" y="428625"/>
            <a:ext cx="8001000" cy="571500"/>
            <a:chOff x="0" y="0"/>
            <a:chExt cx="8001000" cy="571500"/>
          </a:xfrm>
        </p:grpSpPr>
        <p:sp>
          <p:nvSpPr>
            <p:cNvPr id="94" name="Google Shape;94;p16"/>
            <p:cNvSpPr/>
            <p:nvPr/>
          </p:nvSpPr>
          <p:spPr>
            <a:xfrm>
              <a:off x="0" y="0"/>
              <a:ext cx="80010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6"/>
            <p:cNvSpPr txBox="1"/>
            <p:nvPr/>
          </p:nvSpPr>
          <p:spPr>
            <a:xfrm>
              <a:off x="0" y="0"/>
              <a:ext cx="8001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Solution</a:t>
              </a:r>
              <a:endParaRPr b="1" sz="2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96" name="Google Shape;96;p16"/>
          <p:cNvGrpSpPr/>
          <p:nvPr/>
        </p:nvGrpSpPr>
        <p:grpSpPr>
          <a:xfrm>
            <a:off x="571500" y="1333500"/>
            <a:ext cx="1857300" cy="3048000"/>
            <a:chOff x="0" y="0"/>
            <a:chExt cx="1857300" cy="3048000"/>
          </a:xfrm>
        </p:grpSpPr>
        <p:sp>
          <p:nvSpPr>
            <p:cNvPr id="97" name="Google Shape;97;p16"/>
            <p:cNvSpPr/>
            <p:nvPr/>
          </p:nvSpPr>
          <p:spPr>
            <a:xfrm>
              <a:off x="0" y="0"/>
              <a:ext cx="1857300" cy="3048000"/>
            </a:xfrm>
            <a:prstGeom prst="roundRect">
              <a:avLst>
                <a:gd fmla="val 6153" name="adj"/>
              </a:avLst>
            </a:prstGeom>
            <a:solidFill>
              <a:srgbClr val="0B132B">
                <a:alpha val="85000"/>
              </a:srgbClr>
            </a:solidFill>
            <a:ln cap="flat" cmpd="sng" w="14300">
              <a:solidFill>
                <a:srgbClr val="00B4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16"/>
            <p:cNvSpPr txBox="1"/>
            <p:nvPr/>
          </p:nvSpPr>
          <p:spPr>
            <a:xfrm>
              <a:off x="0" y="0"/>
              <a:ext cx="18573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190500" spcFirstLastPara="1" rIns="1905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00F0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Value Prop</a:t>
              </a:r>
              <a:endParaRPr b="1" sz="1000">
                <a:solidFill>
                  <a:srgbClr val="00F0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CCCCCC"/>
                  </a:solidFill>
                </a:rPr>
                <a:t>Automated satellite-to-ground intelligence that turns orbital data into verified disaster action in minutes.</a:t>
              </a:r>
              <a:endParaRPr>
                <a:solidFill>
                  <a:srgbClr val="CCCCCC"/>
                </a:solidFill>
              </a:endParaRPr>
            </a:p>
          </p:txBody>
        </p:sp>
      </p:grpSp>
      <p:grpSp>
        <p:nvGrpSpPr>
          <p:cNvPr id="99" name="Google Shape;99;p16"/>
          <p:cNvGrpSpPr/>
          <p:nvPr/>
        </p:nvGrpSpPr>
        <p:grpSpPr>
          <a:xfrm>
            <a:off x="2619375" y="1333500"/>
            <a:ext cx="1857300" cy="3048000"/>
            <a:chOff x="0" y="0"/>
            <a:chExt cx="1857300" cy="3048000"/>
          </a:xfrm>
        </p:grpSpPr>
        <p:sp>
          <p:nvSpPr>
            <p:cNvPr id="100" name="Google Shape;100;p16"/>
            <p:cNvSpPr/>
            <p:nvPr/>
          </p:nvSpPr>
          <p:spPr>
            <a:xfrm>
              <a:off x="0" y="0"/>
              <a:ext cx="1857300" cy="3048000"/>
            </a:xfrm>
            <a:prstGeom prst="roundRect">
              <a:avLst>
                <a:gd fmla="val 6153" name="adj"/>
              </a:avLst>
            </a:prstGeom>
            <a:solidFill>
              <a:srgbClr val="0B132B">
                <a:alpha val="85000"/>
              </a:srgbClr>
            </a:solidFill>
            <a:ln cap="flat" cmpd="sng" w="14300">
              <a:solidFill>
                <a:srgbClr val="00B4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6"/>
            <p:cNvSpPr txBox="1"/>
            <p:nvPr/>
          </p:nvSpPr>
          <p:spPr>
            <a:xfrm>
              <a:off x="0" y="0"/>
              <a:ext cx="18573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190500" spcFirstLastPara="1" rIns="1905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00F0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The Method</a:t>
              </a:r>
              <a:endParaRPr b="1" sz="1000">
                <a:solidFill>
                  <a:srgbClr val="00F0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317500" lvl="0" marL="457200" rtl="0" algn="l">
                <a:lnSpc>
                  <a:spcPct val="115000"/>
                </a:lnSpc>
                <a:spcBef>
                  <a:spcPts val="1125"/>
                </a:spcBef>
                <a:spcAft>
                  <a:spcPts val="0"/>
                </a:spcAft>
                <a:buClr>
                  <a:srgbClr val="CCCCCC"/>
                </a:buClr>
                <a:buSzPts val="1400"/>
                <a:buFont typeface="Arial"/>
                <a:buChar char="●"/>
              </a:pPr>
              <a:r>
                <a:rPr lang="en">
                  <a:solidFill>
                    <a:srgbClr val="CCCCCC"/>
                  </a:solidFill>
                  <a:highlight>
                    <a:srgbClr val="101010"/>
                  </a:highlight>
                </a:rPr>
                <a:t>Cloud-Penetrating SAR</a:t>
              </a:r>
              <a:endParaRPr>
                <a:solidFill>
                  <a:srgbClr val="CCCCCC"/>
                </a:solidFill>
                <a:highlight>
                  <a:srgbClr val="101010"/>
                </a:highlight>
              </a:endParaRPr>
            </a:p>
            <a:p>
              <a:pPr indent="-3175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CCCC"/>
                </a:buClr>
                <a:buSzPts val="1400"/>
                <a:buFont typeface="Arial"/>
                <a:buChar char="●"/>
              </a:pPr>
              <a:r>
                <a:rPr lang="en">
                  <a:solidFill>
                    <a:srgbClr val="CCCCCC"/>
                  </a:solidFill>
                  <a:highlight>
                    <a:srgbClr val="101010"/>
                  </a:highlight>
                </a:rPr>
                <a:t>Hydrological Exposure</a:t>
              </a:r>
              <a:endParaRPr>
                <a:solidFill>
                  <a:srgbClr val="CCCCCC"/>
                </a:solidFill>
                <a:highlight>
                  <a:srgbClr val="101010"/>
                </a:highlight>
              </a:endParaRPr>
            </a:p>
            <a:p>
              <a:pPr indent="-3175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CCCC"/>
                </a:buClr>
                <a:buSzPts val="1400"/>
                <a:buFont typeface="Arial"/>
                <a:buChar char="●"/>
              </a:pPr>
              <a:r>
                <a:rPr lang="en">
                  <a:solidFill>
                    <a:srgbClr val="CCCCCC"/>
                  </a:solidFill>
                  <a:highlight>
                    <a:srgbClr val="101010"/>
                  </a:highlight>
                </a:rPr>
                <a:t>Human-in-the-Loop</a:t>
              </a:r>
              <a:endParaRPr>
                <a:solidFill>
                  <a:srgbClr val="CCCCCC"/>
                </a:solidFill>
                <a:highlight>
                  <a:srgbClr val="101010"/>
                </a:highlight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rgbClr val="CCCCCC"/>
                </a:solidFill>
              </a:endParaRPr>
            </a:p>
          </p:txBody>
        </p:sp>
      </p:grpSp>
      <p:grpSp>
        <p:nvGrpSpPr>
          <p:cNvPr id="102" name="Google Shape;102;p16"/>
          <p:cNvGrpSpPr/>
          <p:nvPr/>
        </p:nvGrpSpPr>
        <p:grpSpPr>
          <a:xfrm>
            <a:off x="4667250" y="1333500"/>
            <a:ext cx="1857300" cy="3048000"/>
            <a:chOff x="0" y="0"/>
            <a:chExt cx="1857300" cy="3048000"/>
          </a:xfrm>
        </p:grpSpPr>
        <p:sp>
          <p:nvSpPr>
            <p:cNvPr id="103" name="Google Shape;103;p16"/>
            <p:cNvSpPr/>
            <p:nvPr/>
          </p:nvSpPr>
          <p:spPr>
            <a:xfrm>
              <a:off x="0" y="0"/>
              <a:ext cx="1857300" cy="3048000"/>
            </a:xfrm>
            <a:prstGeom prst="roundRect">
              <a:avLst>
                <a:gd fmla="val 6153" name="adj"/>
              </a:avLst>
            </a:prstGeom>
            <a:solidFill>
              <a:srgbClr val="0B132B">
                <a:alpha val="85000"/>
              </a:srgbClr>
            </a:solidFill>
            <a:ln cap="flat" cmpd="sng" w="14300">
              <a:solidFill>
                <a:srgbClr val="00B4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6"/>
            <p:cNvSpPr txBox="1"/>
            <p:nvPr/>
          </p:nvSpPr>
          <p:spPr>
            <a:xfrm>
              <a:off x="0" y="0"/>
              <a:ext cx="18573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190500" spcFirstLastPara="1" rIns="1905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00F0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Use Cases</a:t>
              </a:r>
              <a:endParaRPr b="1" sz="1000">
                <a:solidFill>
                  <a:srgbClr val="00F0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317500" lvl="0" marL="457200" rtl="0" algn="l">
                <a:lnSpc>
                  <a:spcPct val="115000"/>
                </a:lnSpc>
                <a:spcBef>
                  <a:spcPts val="1125"/>
                </a:spcBef>
                <a:spcAft>
                  <a:spcPts val="0"/>
                </a:spcAft>
                <a:buClr>
                  <a:srgbClr val="CCCCCC"/>
                </a:buClr>
                <a:buSzPts val="1400"/>
                <a:buFont typeface="Arial"/>
                <a:buChar char="●"/>
              </a:pPr>
              <a:r>
                <a:rPr lang="en">
                  <a:solidFill>
                    <a:srgbClr val="CCCCCC"/>
                  </a:solidFill>
                  <a:highlight>
                    <a:srgbClr val="101010"/>
                  </a:highlight>
                </a:rPr>
                <a:t>Flash Flood &amp; GLOF Alerts</a:t>
              </a:r>
              <a:endParaRPr>
                <a:solidFill>
                  <a:srgbClr val="CCCCCC"/>
                </a:solidFill>
                <a:highlight>
                  <a:srgbClr val="101010"/>
                </a:highlight>
              </a:endParaRPr>
            </a:p>
            <a:p>
              <a:pPr indent="-3175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CCCC"/>
                </a:buClr>
                <a:buSzPts val="1400"/>
                <a:buFont typeface="Arial"/>
                <a:buChar char="●"/>
              </a:pPr>
              <a:r>
                <a:rPr lang="en">
                  <a:solidFill>
                    <a:srgbClr val="CCCCCC"/>
                  </a:solidFill>
                  <a:highlight>
                    <a:srgbClr val="101010"/>
                  </a:highlight>
                </a:rPr>
                <a:t>Rescue Routing</a:t>
              </a:r>
              <a:endParaRPr>
                <a:solidFill>
                  <a:srgbClr val="CCCCCC"/>
                </a:solidFill>
                <a:highlight>
                  <a:srgbClr val="101010"/>
                </a:highlight>
              </a:endParaRPr>
            </a:p>
            <a:p>
              <a:pPr indent="-3175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CCCC"/>
                </a:buClr>
                <a:buSzPts val="1400"/>
                <a:buFont typeface="Arial"/>
                <a:buChar char="●"/>
              </a:pPr>
              <a:r>
                <a:rPr lang="en">
                  <a:solidFill>
                    <a:srgbClr val="CCCCCC"/>
                  </a:solidFill>
                  <a:highlight>
                    <a:srgbClr val="101010"/>
                  </a:highlight>
                </a:rPr>
                <a:t>Disease Prevention</a:t>
              </a:r>
              <a:endParaRPr>
                <a:solidFill>
                  <a:srgbClr val="CCCCCC"/>
                </a:solidFill>
                <a:highlight>
                  <a:srgbClr val="101010"/>
                </a:highlight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rgbClr val="CCCCCC"/>
                </a:solidFill>
              </a:endParaRPr>
            </a:p>
          </p:txBody>
        </p:sp>
      </p:grpSp>
      <p:grpSp>
        <p:nvGrpSpPr>
          <p:cNvPr id="105" name="Google Shape;105;p16"/>
          <p:cNvGrpSpPr/>
          <p:nvPr/>
        </p:nvGrpSpPr>
        <p:grpSpPr>
          <a:xfrm>
            <a:off x="6715125" y="1333500"/>
            <a:ext cx="1857300" cy="3048000"/>
            <a:chOff x="0" y="0"/>
            <a:chExt cx="1857300" cy="3048000"/>
          </a:xfrm>
        </p:grpSpPr>
        <p:sp>
          <p:nvSpPr>
            <p:cNvPr id="106" name="Google Shape;106;p16"/>
            <p:cNvSpPr/>
            <p:nvPr/>
          </p:nvSpPr>
          <p:spPr>
            <a:xfrm>
              <a:off x="0" y="0"/>
              <a:ext cx="1857300" cy="3048000"/>
            </a:xfrm>
            <a:prstGeom prst="roundRect">
              <a:avLst>
                <a:gd fmla="val 6153" name="adj"/>
              </a:avLst>
            </a:prstGeom>
            <a:solidFill>
              <a:srgbClr val="0B132B">
                <a:alpha val="85000"/>
              </a:srgbClr>
            </a:solidFill>
            <a:ln cap="flat" cmpd="sng" w="14300">
              <a:solidFill>
                <a:srgbClr val="FFB70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16"/>
            <p:cNvSpPr txBox="1"/>
            <p:nvPr/>
          </p:nvSpPr>
          <p:spPr>
            <a:xfrm>
              <a:off x="0" y="0"/>
              <a:ext cx="18573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190500" spcFirstLastPara="1" rIns="1905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FFB70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Roadmap</a:t>
              </a:r>
              <a:endParaRPr b="1" sz="1000">
                <a:solidFill>
                  <a:srgbClr val="FFB703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292100" lvl="0" marL="457200" rtl="0" algn="l">
                <a:lnSpc>
                  <a:spcPct val="115000"/>
                </a:lnSpc>
                <a:spcBef>
                  <a:spcPts val="1125"/>
                </a:spcBef>
                <a:spcAft>
                  <a:spcPts val="0"/>
                </a:spcAft>
                <a:buClr>
                  <a:srgbClr val="CCCCCC"/>
                </a:buClr>
                <a:buSzPts val="1000"/>
                <a:buFont typeface="Roboto"/>
                <a:buChar char="●"/>
              </a:pPr>
              <a:r>
                <a:rPr b="1" lang="en" sz="1000">
                  <a:solidFill>
                    <a:srgbClr val="CCCCCC"/>
                  </a:solidFill>
                  <a:highlight>
                    <a:srgbClr val="101010"/>
                  </a:highlight>
                </a:rPr>
                <a:t>Phase 1 (Done):</a:t>
              </a:r>
              <a:r>
                <a:rPr lang="en" sz="1000">
                  <a:solidFill>
                    <a:srgbClr val="CCCCCC"/>
                  </a:solidFill>
                  <a:highlight>
                    <a:srgbClr val="101010"/>
                  </a:highlight>
                </a:rPr>
                <a:t> End-to-end pipeline + &lt;250-byte resilient alerts</a:t>
              </a:r>
              <a:endParaRPr sz="1000">
                <a:solidFill>
                  <a:srgbClr val="CCCCCC"/>
                </a:solidFill>
                <a:highlight>
                  <a:srgbClr val="101010"/>
                </a:highlight>
              </a:endParaRPr>
            </a:p>
            <a:p>
              <a:pPr indent="-2921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CCCC"/>
                </a:buClr>
                <a:buSzPts val="1000"/>
                <a:buFont typeface="Roboto"/>
                <a:buChar char="●"/>
              </a:pPr>
              <a:r>
                <a:rPr b="1" lang="en" sz="1000">
                  <a:solidFill>
                    <a:srgbClr val="CCCCCC"/>
                  </a:solidFill>
                  <a:highlight>
                    <a:srgbClr val="101010"/>
                  </a:highlight>
                </a:rPr>
                <a:t>Phase 2:</a:t>
              </a:r>
              <a:r>
                <a:rPr lang="en" sz="1000">
                  <a:solidFill>
                    <a:srgbClr val="CCCCCC"/>
                  </a:solidFill>
                  <a:highlight>
                    <a:srgbClr val="101010"/>
                  </a:highlight>
                </a:rPr>
                <a:t> Direct LoRa mesh &amp; satellite terminal integration</a:t>
              </a:r>
              <a:endParaRPr sz="1000">
                <a:solidFill>
                  <a:srgbClr val="CCCCCC"/>
                </a:solidFill>
                <a:highlight>
                  <a:srgbClr val="101010"/>
                </a:highlight>
              </a:endParaRPr>
            </a:p>
            <a:p>
              <a:pPr indent="-2921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CCCC"/>
                </a:buClr>
                <a:buSzPts val="1000"/>
                <a:buFont typeface="Roboto"/>
                <a:buChar char="●"/>
              </a:pPr>
              <a:r>
                <a:rPr b="1" lang="en" sz="1000">
                  <a:solidFill>
                    <a:srgbClr val="CCCCCC"/>
                  </a:solidFill>
                  <a:highlight>
                    <a:srgbClr val="101010"/>
                  </a:highlight>
                </a:rPr>
                <a:t>Phase 3:</a:t>
              </a:r>
              <a:r>
                <a:rPr lang="en" sz="1000">
                  <a:solidFill>
                    <a:srgbClr val="CCCCCC"/>
                  </a:solidFill>
                  <a:highlight>
                    <a:srgbClr val="101010"/>
                  </a:highlight>
                </a:rPr>
                <a:t> Multi-basin scaling across the entire Himalayan belt</a:t>
              </a:r>
              <a:endParaRPr sz="1000">
                <a:solidFill>
                  <a:srgbClr val="CCCCCC"/>
                </a:solidFill>
                <a:highlight>
                  <a:srgbClr val="101010"/>
                </a:highlight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rgbClr val="CCCCCC"/>
                </a:solidFill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7"/>
          <p:cNvPicPr preferRelativeResize="0"/>
          <p:nvPr/>
        </p:nvPicPr>
        <p:blipFill rotWithShape="1">
          <a:blip r:embed="rId3">
            <a:alphaModFix/>
          </a:blip>
          <a:srcRect b="0" l="387" r="387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7"/>
          <p:cNvSpPr txBox="1"/>
          <p:nvPr/>
        </p:nvSpPr>
        <p:spPr>
          <a:xfrm>
            <a:off x="571500" y="428625"/>
            <a:ext cx="8001000" cy="431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Structural Breakdown</a:t>
            </a:r>
            <a:endParaRPr b="1" sz="28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4" name="Google Shape;114;p17" title="workflo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20092"/>
            <a:ext cx="9144003" cy="51033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8"/>
          <p:cNvPicPr preferRelativeResize="0"/>
          <p:nvPr/>
        </p:nvPicPr>
        <p:blipFill rotWithShape="1">
          <a:blip r:embed="rId3">
            <a:alphaModFix/>
          </a:blip>
          <a:srcRect b="0" l="387" r="387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8"/>
          <p:cNvSpPr txBox="1"/>
          <p:nvPr/>
        </p:nvSpPr>
        <p:spPr>
          <a:xfrm>
            <a:off x="571500" y="428625"/>
            <a:ext cx="8001000" cy="431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Structural Breakdown</a:t>
            </a:r>
            <a:endParaRPr b="1" sz="28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1" name="Google Shape;121;p18" title="DL MODEL WORKING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20092"/>
            <a:ext cx="9144003" cy="51033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19"/>
          <p:cNvPicPr preferRelativeResize="0"/>
          <p:nvPr/>
        </p:nvPicPr>
        <p:blipFill rotWithShape="1">
          <a:blip r:embed="rId3">
            <a:alphaModFix/>
          </a:blip>
          <a:srcRect b="0" l="387" r="387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7" name="Google Shape;127;p19"/>
          <p:cNvGrpSpPr/>
          <p:nvPr/>
        </p:nvGrpSpPr>
        <p:grpSpPr>
          <a:xfrm>
            <a:off x="571500" y="428625"/>
            <a:ext cx="8001000" cy="571500"/>
            <a:chOff x="0" y="0"/>
            <a:chExt cx="8001000" cy="571500"/>
          </a:xfrm>
        </p:grpSpPr>
        <p:sp>
          <p:nvSpPr>
            <p:cNvPr id="128" name="Google Shape;128;p19"/>
            <p:cNvSpPr/>
            <p:nvPr/>
          </p:nvSpPr>
          <p:spPr>
            <a:xfrm>
              <a:off x="0" y="0"/>
              <a:ext cx="80010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9"/>
            <p:cNvSpPr txBox="1"/>
            <p:nvPr/>
          </p:nvSpPr>
          <p:spPr>
            <a:xfrm>
              <a:off x="0" y="0"/>
              <a:ext cx="8001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Technologies Used</a:t>
              </a:r>
              <a:endParaRPr b="1" sz="2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30" name="Google Shape;130;p19"/>
          <p:cNvGrpSpPr/>
          <p:nvPr/>
        </p:nvGrpSpPr>
        <p:grpSpPr>
          <a:xfrm>
            <a:off x="571500" y="1200150"/>
            <a:ext cx="3810000" cy="3143400"/>
            <a:chOff x="0" y="0"/>
            <a:chExt cx="3810000" cy="3143400"/>
          </a:xfrm>
        </p:grpSpPr>
        <p:sp>
          <p:nvSpPr>
            <p:cNvPr id="131" name="Google Shape;131;p19"/>
            <p:cNvSpPr/>
            <p:nvPr/>
          </p:nvSpPr>
          <p:spPr>
            <a:xfrm>
              <a:off x="0" y="0"/>
              <a:ext cx="3810000" cy="3143400"/>
            </a:xfrm>
            <a:prstGeom prst="roundRect">
              <a:avLst>
                <a:gd fmla="val 3636" name="adj"/>
              </a:avLst>
            </a:prstGeom>
            <a:solidFill>
              <a:srgbClr val="0B132B">
                <a:alpha val="90000"/>
              </a:srgbClr>
            </a:solidFill>
            <a:ln cap="flat" cmpd="sng" w="14300">
              <a:solidFill>
                <a:srgbClr val="00F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9"/>
            <p:cNvSpPr txBox="1"/>
            <p:nvPr/>
          </p:nvSpPr>
          <p:spPr>
            <a:xfrm>
              <a:off x="0" y="0"/>
              <a:ext cx="3810000" cy="314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0F0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SOFTWARE STACK</a:t>
              </a:r>
              <a:endParaRPr b="1" sz="1200">
                <a:solidFill>
                  <a:srgbClr val="00F0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311150" lvl="0" marL="457200" rtl="0" algn="l">
                <a:spcBef>
                  <a:spcPts val="1350"/>
                </a:spcBef>
                <a:spcAft>
                  <a:spcPts val="0"/>
                </a:spcAft>
                <a:buClr>
                  <a:srgbClr val="CCCCCC"/>
                </a:buClr>
                <a:buSzPts val="1300"/>
                <a:buFont typeface="Montserrat"/>
                <a:buChar char="●"/>
              </a:pPr>
              <a:r>
                <a:rPr b="1" lang="en" sz="1300">
                  <a:solidFill>
                    <a:srgbClr val="00F0FF"/>
                  </a:solidFill>
                  <a:latin typeface="Arial"/>
                  <a:ea typeface="Arial"/>
                  <a:cs typeface="Arial"/>
                  <a:sym typeface="Arial"/>
                </a:rPr>
                <a:t>Languages:</a:t>
              </a:r>
              <a:r>
                <a:rPr lang="en" sz="1300">
                  <a:solidFill>
                    <a:srgbClr val="CCCCC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lang="en" sz="13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Python 3.11+, TypeScript</a:t>
              </a:r>
              <a:endParaRPr sz="13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3111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CCCCCC"/>
                </a:buClr>
                <a:buSzPts val="1300"/>
                <a:buFont typeface="Montserrat"/>
                <a:buChar char="●"/>
              </a:pPr>
              <a:r>
                <a:rPr b="1" lang="en" sz="1300">
                  <a:solidFill>
                    <a:srgbClr val="00F0FF"/>
                  </a:solidFill>
                  <a:latin typeface="Arial"/>
                  <a:ea typeface="Arial"/>
                  <a:cs typeface="Arial"/>
                  <a:sym typeface="Arial"/>
                </a:rPr>
                <a:t>Frameworks:</a:t>
              </a:r>
              <a:r>
                <a:rPr lang="en" sz="1300">
                  <a:solidFill>
                    <a:srgbClr val="CCCCC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lang="en" sz="13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React, Vite, MapLibre GL, Tailwind CSS</a:t>
              </a:r>
              <a:endParaRPr sz="13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3111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CCCCCC"/>
                </a:buClr>
                <a:buSzPts val="1300"/>
                <a:buFont typeface="Montserrat"/>
                <a:buChar char="●"/>
              </a:pPr>
              <a:r>
                <a:rPr b="1" lang="en" sz="1300">
                  <a:solidFill>
                    <a:srgbClr val="00F0FF"/>
                  </a:solidFill>
                  <a:latin typeface="Arial"/>
                  <a:ea typeface="Arial"/>
                  <a:cs typeface="Arial"/>
                  <a:sym typeface="Arial"/>
                </a:rPr>
                <a:t>Geospatial &amp; ML:</a:t>
              </a:r>
              <a:r>
                <a:rPr lang="en" sz="1300">
                  <a:solidFill>
                    <a:srgbClr val="CCCCC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lang="en" sz="13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Rasterio, GeoPandas, Shapely, PySheds, NumPy, PyTorch</a:t>
              </a:r>
              <a:endParaRPr sz="13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3111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CCCCCC"/>
                </a:buClr>
                <a:buSzPts val="1300"/>
                <a:buFont typeface="Montserrat"/>
                <a:buChar char="●"/>
              </a:pPr>
              <a:r>
                <a:rPr b="1" lang="en" sz="1300">
                  <a:solidFill>
                    <a:srgbClr val="00F0FF"/>
                  </a:solidFill>
                  <a:latin typeface="Arial"/>
                  <a:ea typeface="Arial"/>
                  <a:cs typeface="Arial"/>
                  <a:sym typeface="Arial"/>
                </a:rPr>
                <a:t>Backend:</a:t>
              </a:r>
              <a:r>
                <a:rPr lang="en" sz="1300">
                  <a:solidFill>
                    <a:srgbClr val="CCCCC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lang="en" sz="13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FastAPI, Pydantic, Uvicorn</a:t>
              </a:r>
              <a:endParaRPr sz="13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33" name="Google Shape;133;p19"/>
          <p:cNvGrpSpPr/>
          <p:nvPr/>
        </p:nvGrpSpPr>
        <p:grpSpPr>
          <a:xfrm>
            <a:off x="4762500" y="1200150"/>
            <a:ext cx="3810000" cy="3143400"/>
            <a:chOff x="0" y="0"/>
            <a:chExt cx="3810000" cy="3143400"/>
          </a:xfrm>
        </p:grpSpPr>
        <p:sp>
          <p:nvSpPr>
            <p:cNvPr id="134" name="Google Shape;134;p19"/>
            <p:cNvSpPr/>
            <p:nvPr/>
          </p:nvSpPr>
          <p:spPr>
            <a:xfrm>
              <a:off x="0" y="0"/>
              <a:ext cx="3810000" cy="3143400"/>
            </a:xfrm>
            <a:prstGeom prst="roundRect">
              <a:avLst>
                <a:gd fmla="val 3636" name="adj"/>
              </a:avLst>
            </a:prstGeom>
            <a:solidFill>
              <a:srgbClr val="0B132B">
                <a:alpha val="90000"/>
              </a:srgbClr>
            </a:solidFill>
            <a:ln cap="flat" cmpd="sng" w="14300">
              <a:solidFill>
                <a:srgbClr val="00F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9"/>
            <p:cNvSpPr txBox="1"/>
            <p:nvPr/>
          </p:nvSpPr>
          <p:spPr>
            <a:xfrm>
              <a:off x="0" y="0"/>
              <a:ext cx="3810000" cy="314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0F0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DATA &amp; APIS</a:t>
              </a:r>
              <a:endParaRPr b="1" sz="1200">
                <a:solidFill>
                  <a:srgbClr val="00F0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311150" lvl="0" marL="457200" rtl="0" algn="l">
                <a:spcBef>
                  <a:spcPts val="1350"/>
                </a:spcBef>
                <a:spcAft>
                  <a:spcPts val="0"/>
                </a:spcAft>
                <a:buClr>
                  <a:srgbClr val="CCCCCC"/>
                </a:buClr>
                <a:buSzPts val="1300"/>
                <a:buFont typeface="Montserrat"/>
                <a:buChar char="●"/>
              </a:pPr>
              <a:r>
                <a:rPr b="1" lang="en" sz="1300">
                  <a:solidFill>
                    <a:srgbClr val="00F0FF"/>
                  </a:solidFill>
                  <a:latin typeface="Arial"/>
                  <a:ea typeface="Arial"/>
                  <a:cs typeface="Arial"/>
                  <a:sym typeface="Arial"/>
                </a:rPr>
                <a:t>Earth Observation:</a:t>
              </a:r>
              <a:r>
                <a:rPr lang="en" sz="1300">
                  <a:solidFill>
                    <a:srgbClr val="CCCCC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lang="en" sz="13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Sentinel-1 SAR &amp; Sentinel-2 Optical (CDSE STAC)</a:t>
              </a:r>
              <a:endParaRPr sz="13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3111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CCCCCC"/>
                </a:buClr>
                <a:buSzPts val="1300"/>
                <a:buFont typeface="Montserrat"/>
                <a:buChar char="●"/>
              </a:pPr>
              <a:r>
                <a:rPr b="1" lang="en" sz="1300">
                  <a:solidFill>
                    <a:srgbClr val="00F0FF"/>
                  </a:solidFill>
                  <a:latin typeface="Arial"/>
                  <a:ea typeface="Arial"/>
                  <a:cs typeface="Arial"/>
                  <a:sym typeface="Arial"/>
                </a:rPr>
                <a:t>Terrain &amp; Weather:</a:t>
              </a:r>
              <a:r>
                <a:rPr lang="en" sz="1300">
                  <a:solidFill>
                    <a:srgbClr val="CCCCC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lang="en" sz="13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SRTM 30m DEM &amp; NASA GPM IMERG Rainfall</a:t>
              </a:r>
              <a:endParaRPr sz="13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3111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CCCCCC"/>
                </a:buClr>
                <a:buSzPts val="1300"/>
                <a:buFont typeface="Montserrat"/>
                <a:buChar char="●"/>
              </a:pPr>
              <a:r>
                <a:rPr b="1" lang="en" sz="1300">
                  <a:solidFill>
                    <a:srgbClr val="00F0FF"/>
                  </a:solidFill>
                  <a:latin typeface="Arial"/>
                  <a:ea typeface="Arial"/>
                  <a:cs typeface="Arial"/>
                  <a:sym typeface="Arial"/>
                </a:rPr>
                <a:t>Infrastructure:</a:t>
              </a:r>
              <a:r>
                <a:rPr lang="en" sz="1300">
                  <a:solidFill>
                    <a:srgbClr val="CCCCC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lang="en" sz="13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OpenStreetMap</a:t>
              </a:r>
              <a:endParaRPr sz="13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3111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CCCCCC"/>
                </a:buClr>
                <a:buSzPts val="1300"/>
                <a:buFont typeface="Montserrat"/>
                <a:buChar char="●"/>
              </a:pPr>
              <a:r>
                <a:rPr b="1" lang="en" sz="1300">
                  <a:solidFill>
                    <a:srgbClr val="00F0FF"/>
                  </a:solidFill>
                  <a:latin typeface="Arial"/>
                  <a:ea typeface="Arial"/>
                  <a:cs typeface="Arial"/>
                  <a:sym typeface="Arial"/>
                </a:rPr>
                <a:t>Storage &amp; Audit:</a:t>
              </a:r>
              <a:r>
                <a:rPr lang="en" sz="1300">
                  <a:solidFill>
                    <a:srgbClr val="CCCCC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lang="en" sz="13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SQLite + SHA-256 Cryptographic Hash Chain</a:t>
              </a:r>
              <a:endParaRPr sz="13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0"/>
          <p:cNvPicPr preferRelativeResize="0"/>
          <p:nvPr/>
        </p:nvPicPr>
        <p:blipFill rotWithShape="1">
          <a:blip r:embed="rId3">
            <a:alphaModFix/>
          </a:blip>
          <a:srcRect b="0" l="387" r="387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1" name="Google Shape;141;p20"/>
          <p:cNvGrpSpPr/>
          <p:nvPr/>
        </p:nvGrpSpPr>
        <p:grpSpPr>
          <a:xfrm>
            <a:off x="571500" y="428625"/>
            <a:ext cx="8001000" cy="571500"/>
            <a:chOff x="0" y="0"/>
            <a:chExt cx="8001000" cy="571500"/>
          </a:xfrm>
        </p:grpSpPr>
        <p:sp>
          <p:nvSpPr>
            <p:cNvPr id="142" name="Google Shape;142;p20"/>
            <p:cNvSpPr/>
            <p:nvPr/>
          </p:nvSpPr>
          <p:spPr>
            <a:xfrm>
              <a:off x="0" y="0"/>
              <a:ext cx="80010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20"/>
            <p:cNvSpPr txBox="1"/>
            <p:nvPr/>
          </p:nvSpPr>
          <p:spPr>
            <a:xfrm>
              <a:off x="0" y="0"/>
              <a:ext cx="8001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Scalability &amp; Feasibility</a:t>
              </a:r>
              <a:endParaRPr b="1" sz="2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44" name="Google Shape;144;p20"/>
          <p:cNvGrpSpPr/>
          <p:nvPr/>
        </p:nvGrpSpPr>
        <p:grpSpPr>
          <a:xfrm>
            <a:off x="571500" y="1200150"/>
            <a:ext cx="8001000" cy="3238500"/>
            <a:chOff x="0" y="0"/>
            <a:chExt cx="8001000" cy="3238500"/>
          </a:xfrm>
        </p:grpSpPr>
        <p:sp>
          <p:nvSpPr>
            <p:cNvPr id="145" name="Google Shape;145;p20"/>
            <p:cNvSpPr/>
            <p:nvPr/>
          </p:nvSpPr>
          <p:spPr>
            <a:xfrm>
              <a:off x="0" y="0"/>
              <a:ext cx="8001000" cy="3238500"/>
            </a:xfrm>
            <a:prstGeom prst="roundRect">
              <a:avLst>
                <a:gd fmla="val 3529" name="adj"/>
              </a:avLst>
            </a:prstGeom>
            <a:solidFill>
              <a:srgbClr val="0B132B">
                <a:alpha val="85000"/>
              </a:srgbClr>
            </a:solidFill>
            <a:ln cap="flat" cmpd="sng" w="14300">
              <a:solidFill>
                <a:srgbClr val="00F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20"/>
            <p:cNvSpPr txBox="1"/>
            <p:nvPr/>
          </p:nvSpPr>
          <p:spPr>
            <a:xfrm>
              <a:off x="0" y="0"/>
              <a:ext cx="8001000" cy="3238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285750" lIns="285750" spcFirstLastPara="1" rIns="285750" wrap="square" tIns="2857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00F0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01 . SCALABILITY</a:t>
              </a:r>
              <a:endParaRPr b="1">
                <a:solidFill>
                  <a:srgbClr val="00F0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CCCCCC"/>
                  </a:solidFill>
                  <a:highlight>
                    <a:srgbClr val="101010"/>
                  </a:highlight>
                  <a:latin typeface="Montserrat Medium"/>
                  <a:ea typeface="Montserrat Medium"/>
                  <a:cs typeface="Montserrat Medium"/>
                  <a:sym typeface="Montserrat Medium"/>
                </a:rPr>
                <a:t>Fully basin-agnostic and runs on open satellite data, allowing any new watershed to onboard in minutes without GPUs.</a:t>
              </a:r>
              <a:endParaRPr sz="1300">
                <a:solidFill>
                  <a:srgbClr val="00F0FF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00F0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02 . CHALLENGES</a:t>
              </a:r>
              <a:endParaRPr b="1">
                <a:solidFill>
                  <a:srgbClr val="00F0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CCCCCC"/>
                  </a:solidFill>
                  <a:highlight>
                    <a:srgbClr val="101010"/>
                  </a:highlight>
                  <a:latin typeface="Montserrat Medium"/>
                  <a:ea typeface="Montserrat Medium"/>
                  <a:cs typeface="Montserrat Medium"/>
                  <a:sym typeface="Montserrat Medium"/>
                </a:rPr>
                <a:t>Satellite revisit gaps are bridged by continuous rainfall telemetry and ultra-compact (&lt;250B) offline alerting.</a:t>
              </a:r>
              <a:endParaRPr sz="1300">
                <a:solidFill>
                  <a:srgbClr val="00F0FF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00F0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03 . FEASIBILITY</a:t>
              </a:r>
              <a:endParaRPr b="1">
                <a:solidFill>
                  <a:srgbClr val="00F0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CCCCCC"/>
                  </a:solidFill>
                  <a:highlight>
                    <a:srgbClr val="101010"/>
                  </a:highlight>
                  <a:latin typeface="Montserrat Medium"/>
                  <a:ea typeface="Montserrat Medium"/>
                  <a:cs typeface="Montserrat Medium"/>
                  <a:sym typeface="Montserrat Medium"/>
                </a:rPr>
                <a:t>Zero data licensing costs, lightweight local Docker/SQLite deployment, and an already working, test-verified MVP.</a:t>
              </a:r>
              <a:endParaRPr sz="1300">
                <a:solidFill>
                  <a:srgbClr val="00F0FF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21"/>
          <p:cNvPicPr preferRelativeResize="0"/>
          <p:nvPr/>
        </p:nvPicPr>
        <p:blipFill rotWithShape="1">
          <a:blip r:embed="rId3">
            <a:alphaModFix/>
          </a:blip>
          <a:srcRect b="0" l="387" r="387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1"/>
          <p:cNvSpPr txBox="1"/>
          <p:nvPr/>
        </p:nvSpPr>
        <p:spPr>
          <a:xfrm>
            <a:off x="381275" y="382925"/>
            <a:ext cx="5710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lt1"/>
                </a:solidFill>
              </a:rPr>
              <a:t>Marketing real world USP</a:t>
            </a:r>
            <a:endParaRPr b="1" sz="2200">
              <a:solidFill>
                <a:schemeClr val="lt1"/>
              </a:solidFill>
            </a:endParaRPr>
          </a:p>
        </p:txBody>
      </p:sp>
      <p:sp>
        <p:nvSpPr>
          <p:cNvPr id="153" name="Google Shape;153;p21"/>
          <p:cNvSpPr txBox="1"/>
          <p:nvPr/>
        </p:nvSpPr>
        <p:spPr>
          <a:xfrm>
            <a:off x="381275" y="1094250"/>
            <a:ext cx="73317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Font typeface="Roboto"/>
              <a:buChar char="●"/>
            </a:pPr>
            <a:r>
              <a:rPr b="1" lang="en">
                <a:solidFill>
                  <a:srgbClr val="CCCCCC"/>
                </a:solidFill>
                <a:highlight>
                  <a:srgbClr val="000000"/>
                </a:highlight>
                <a:latin typeface="Montserrat"/>
                <a:ea typeface="Montserrat"/>
                <a:cs typeface="Montserrat"/>
                <a:sym typeface="Montserrat"/>
              </a:rPr>
              <a:t>Unique Selling Proposition (USP): </a:t>
            </a:r>
            <a:r>
              <a:rPr lang="en">
                <a:solidFill>
                  <a:srgbClr val="CCCCCC"/>
                </a:solidFill>
                <a:highlight>
                  <a:srgbClr val="000000"/>
                </a:highlight>
                <a:latin typeface="Montserrat Medium"/>
                <a:ea typeface="Montserrat Medium"/>
                <a:cs typeface="Montserrat Medium"/>
                <a:sym typeface="Montserrat Medium"/>
              </a:rPr>
              <a:t>Combines cloud-penetrating radar, automated disease prevention (submerged drinking wells), and ultra-compact (&lt;250B) alerts that work even after cell towers collapse.</a:t>
            </a:r>
            <a:endParaRPr>
              <a:solidFill>
                <a:srgbClr val="CCCCCC"/>
              </a:solidFill>
              <a:highlight>
                <a:srgbClr val="000000"/>
              </a:highlight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  <a:highlight>
                <a:srgbClr val="000000"/>
              </a:highlight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400"/>
              <a:buFont typeface="Roboto"/>
              <a:buChar char="●"/>
            </a:pPr>
            <a:r>
              <a:rPr b="1" lang="en">
                <a:solidFill>
                  <a:srgbClr val="CCCCCC"/>
                </a:solidFill>
                <a:highlight>
                  <a:srgbClr val="000000"/>
                </a:highlight>
                <a:latin typeface="Montserrat"/>
                <a:ea typeface="Montserrat"/>
                <a:cs typeface="Montserrat"/>
                <a:sym typeface="Montserrat"/>
              </a:rPr>
              <a:t>Real-World Value:</a:t>
            </a:r>
            <a:r>
              <a:rPr lang="en">
                <a:solidFill>
                  <a:srgbClr val="CCCCCC"/>
                </a:solidFill>
                <a:highlight>
                  <a:srgbClr val="000000"/>
                </a:highlight>
                <a:latin typeface="Montserrat Medium"/>
                <a:ea typeface="Montserrat Medium"/>
                <a:cs typeface="Montserrat Medium"/>
                <a:sym typeface="Montserrat Medium"/>
              </a:rPr>
              <a:t> Replaces 12+ hours of manual GIS analysis with automated, human-verified hazard and road-cut intelligence in minutes.</a:t>
            </a:r>
            <a:endParaRPr>
              <a:solidFill>
                <a:srgbClr val="CCCCCC"/>
              </a:solidFill>
              <a:highlight>
                <a:srgbClr val="000000"/>
              </a:highlight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CCCC"/>
              </a:solidFill>
              <a:highlight>
                <a:srgbClr val="000000"/>
              </a:highlight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400"/>
              <a:buFont typeface="Roboto"/>
              <a:buChar char="●"/>
            </a:pPr>
            <a:r>
              <a:rPr b="1" lang="en">
                <a:solidFill>
                  <a:srgbClr val="CCCCCC"/>
                </a:solidFill>
                <a:highlight>
                  <a:srgbClr val="000000"/>
                </a:highlight>
                <a:latin typeface="Montserrat"/>
                <a:ea typeface="Montserrat"/>
                <a:cs typeface="Montserrat"/>
                <a:sym typeface="Montserrat"/>
              </a:rPr>
              <a:t>Target Adoption:</a:t>
            </a:r>
            <a:r>
              <a:rPr lang="en">
                <a:solidFill>
                  <a:srgbClr val="CCCCCC"/>
                </a:solidFill>
                <a:highlight>
                  <a:srgbClr val="000000"/>
                </a:highlight>
                <a:latin typeface="Montserrat Medium"/>
                <a:ea typeface="Montserrat Medium"/>
                <a:cs typeface="Montserrat Medium"/>
                <a:sym typeface="Montserrat Medium"/>
              </a:rPr>
              <a:t> Designed for direct integration into State/National Disaster Management Authorities (NDMA/SDMA) and humanitarian WASH emergency units.</a:t>
            </a:r>
            <a:endParaRPr>
              <a:solidFill>
                <a:srgbClr val="CCCCCC"/>
              </a:solidFill>
              <a:highlight>
                <a:srgbClr val="000000"/>
              </a:highlight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highlight>
                <a:srgbClr val="000000"/>
              </a:highlight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22"/>
          <p:cNvPicPr preferRelativeResize="0"/>
          <p:nvPr/>
        </p:nvPicPr>
        <p:blipFill rotWithShape="1">
          <a:blip r:embed="rId4">
            <a:alphaModFix/>
          </a:blip>
          <a:srcRect b="0" l="387" r="387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9" name="Google Shape;159;p22"/>
          <p:cNvGrpSpPr/>
          <p:nvPr/>
        </p:nvGrpSpPr>
        <p:grpSpPr>
          <a:xfrm>
            <a:off x="571500" y="428625"/>
            <a:ext cx="8001000" cy="571500"/>
            <a:chOff x="0" y="0"/>
            <a:chExt cx="8001000" cy="571500"/>
          </a:xfrm>
        </p:grpSpPr>
        <p:sp>
          <p:nvSpPr>
            <p:cNvPr id="160" name="Google Shape;160;p22"/>
            <p:cNvSpPr/>
            <p:nvPr/>
          </p:nvSpPr>
          <p:spPr>
            <a:xfrm>
              <a:off x="0" y="0"/>
              <a:ext cx="80010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22"/>
            <p:cNvSpPr txBox="1"/>
            <p:nvPr/>
          </p:nvSpPr>
          <p:spPr>
            <a:xfrm>
              <a:off x="0" y="0"/>
              <a:ext cx="8001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Unit Economics</a:t>
              </a:r>
              <a:endParaRPr b="1" sz="2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62" name="Google Shape;162;p22"/>
          <p:cNvGrpSpPr/>
          <p:nvPr/>
        </p:nvGrpSpPr>
        <p:grpSpPr>
          <a:xfrm>
            <a:off x="571500" y="1200150"/>
            <a:ext cx="8001000" cy="3333900"/>
            <a:chOff x="0" y="0"/>
            <a:chExt cx="8001000" cy="3333900"/>
          </a:xfrm>
        </p:grpSpPr>
        <p:sp>
          <p:nvSpPr>
            <p:cNvPr id="163" name="Google Shape;163;p22"/>
            <p:cNvSpPr/>
            <p:nvPr/>
          </p:nvSpPr>
          <p:spPr>
            <a:xfrm>
              <a:off x="0" y="0"/>
              <a:ext cx="8001000" cy="3333900"/>
            </a:xfrm>
            <a:prstGeom prst="roundRect">
              <a:avLst>
                <a:gd fmla="val 3428" name="adj"/>
              </a:avLst>
            </a:prstGeom>
            <a:solidFill>
              <a:srgbClr val="0B132B">
                <a:alpha val="85000"/>
              </a:srgbClr>
            </a:solidFill>
            <a:ln cap="flat" cmpd="sng" w="14300">
              <a:solidFill>
                <a:srgbClr val="00F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22"/>
            <p:cNvSpPr txBox="1"/>
            <p:nvPr/>
          </p:nvSpPr>
          <p:spPr>
            <a:xfrm>
              <a:off x="0" y="0"/>
              <a:ext cx="8001000" cy="333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38125" lIns="285750" spcFirstLastPara="1" rIns="285750" wrap="square" tIns="238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00F0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01 . COST BREAKDOWN</a:t>
              </a:r>
              <a:endParaRPr b="1" sz="1300">
                <a:solidFill>
                  <a:srgbClr val="00F0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311150" lvl="0" marL="457200" rtl="0" algn="l">
                <a:lnSpc>
                  <a:spcPct val="115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CCCCCC"/>
                </a:buClr>
                <a:buSzPts val="1300"/>
                <a:buFont typeface="Roboto"/>
                <a:buChar char="●"/>
              </a:pPr>
              <a:r>
                <a:rPr b="1" lang="en" sz="1300">
                  <a:solidFill>
                    <a:srgbClr val="CCCCCC"/>
                  </a:solidFill>
                  <a:highlight>
                    <a:srgbClr val="101010"/>
                  </a:highlight>
                  <a:latin typeface="Roboto"/>
                  <a:ea typeface="Roboto"/>
                  <a:cs typeface="Roboto"/>
                  <a:sym typeface="Roboto"/>
                </a:rPr>
                <a:t>Zero Data Costs:</a:t>
              </a:r>
              <a:r>
                <a:rPr lang="en" sz="1300">
                  <a:solidFill>
                    <a:srgbClr val="CCCCCC"/>
                  </a:solidFill>
                  <a:highlight>
                    <a:srgbClr val="101010"/>
                  </a:highlight>
                  <a:latin typeface="Roboto"/>
                  <a:ea typeface="Roboto"/>
                  <a:cs typeface="Roboto"/>
                  <a:sym typeface="Roboto"/>
                </a:rPr>
                <a:t> Powered 100% by open-access public satellite constellations (ESA Copernicus &amp; NASA) and OpenStreetMap.</a:t>
              </a:r>
              <a:endParaRPr sz="1300">
                <a:solidFill>
                  <a:srgbClr val="CCCCCC"/>
                </a:solidFill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00F0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02 . MINIMAL INFRASTRUCTURE:</a:t>
              </a:r>
              <a:endParaRPr b="1" sz="1300">
                <a:solidFill>
                  <a:srgbClr val="00F0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lnSpc>
                  <a:spcPct val="12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CCCCCC"/>
                  </a:solidFill>
                  <a:highlight>
                    <a:srgbClr val="101010"/>
                  </a:highlight>
                  <a:latin typeface="Roboto"/>
                  <a:ea typeface="Roboto"/>
                  <a:cs typeface="Roboto"/>
                  <a:sym typeface="Roboto"/>
                </a:rPr>
                <a:t> Runs entirely on standard commodity CPUs or field laptops (~</a:t>
              </a:r>
              <a:r>
                <a:rPr lang="en" sz="1300">
                  <a:solidFill>
                    <a:srgbClr val="CCCCCC"/>
                  </a:solidFill>
                  <a:highlight>
                    <a:srgbClr val="101010"/>
                  </a:highlight>
                  <a:latin typeface="Times New Roman"/>
                  <a:ea typeface="Times New Roman"/>
                  <a:cs typeface="Times New Roman"/>
                  <a:sym typeface="Times New Roman"/>
                </a:rPr>
                <a:t>20–</a:t>
              </a:r>
              <a:r>
                <a:rPr lang="en" sz="1300">
                  <a:solidFill>
                    <a:srgbClr val="CCCCCC"/>
                  </a:solidFill>
                  <a:highlight>
                    <a:srgbClr val="101010"/>
                  </a:highlight>
                  <a:latin typeface="Roboto"/>
                  <a:ea typeface="Roboto"/>
                  <a:cs typeface="Roboto"/>
                  <a:sym typeface="Roboto"/>
                </a:rPr>
                <a:t>50/month per monitored river basin, no expensive GPUs).</a:t>
              </a:r>
              <a:endParaRPr sz="1300">
                <a:solidFill>
                  <a:srgbClr val="CCCCCC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00F0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03 . MASSIVE ECONOMIC ROI:</a:t>
              </a:r>
              <a:endParaRPr b="1" sz="1300">
                <a:solidFill>
                  <a:srgbClr val="00F0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CCCCCC"/>
                  </a:solidFill>
                  <a:highlight>
                    <a:srgbClr val="101010"/>
                  </a:highlight>
                  <a:latin typeface="Roboto"/>
                  <a:ea typeface="Roboto"/>
                  <a:cs typeface="Roboto"/>
                  <a:sym typeface="Roboto"/>
                </a:rPr>
                <a:t>Prevents millions of dollars in secondary epidemic costs and infrastructure washouts by providing rapid, verified advance warning.</a:t>
              </a:r>
              <a:endParaRPr b="0" sz="130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b="0" lang="en" sz="1100">
                  <a:solidFill>
                    <a:srgbClr val="CCCCCC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b="0" sz="110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3"/>
          <p:cNvSpPr txBox="1"/>
          <p:nvPr/>
        </p:nvSpPr>
        <p:spPr>
          <a:xfrm>
            <a:off x="571500" y="428625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Future Plans &amp; Roadmap</a:t>
            </a:r>
            <a:endParaRPr b="1" sz="28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70" name="Google Shape;170;p23"/>
          <p:cNvGrpSpPr/>
          <p:nvPr/>
        </p:nvGrpSpPr>
        <p:grpSpPr>
          <a:xfrm>
            <a:off x="571500" y="1285875"/>
            <a:ext cx="2476500" cy="3048000"/>
            <a:chOff x="0" y="0"/>
            <a:chExt cx="2476500" cy="3048000"/>
          </a:xfrm>
        </p:grpSpPr>
        <p:pic>
          <p:nvPicPr>
            <p:cNvPr id="171" name="Google Shape;171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0"/>
              <a:ext cx="2476500" cy="304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2" name="Google Shape;172;p23"/>
            <p:cNvSpPr txBox="1"/>
            <p:nvPr/>
          </p:nvSpPr>
          <p:spPr>
            <a:xfrm>
              <a:off x="0" y="0"/>
              <a:ext cx="24765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0F0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01 . PLANNED EXPANSIONS</a:t>
              </a:r>
              <a:endParaRPr b="1" sz="1100">
                <a:solidFill>
                  <a:srgbClr val="00F0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Next-Gen Features</a:t>
              </a:r>
              <a:endParaRPr b="1"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CCCCCC"/>
                  </a:solidFill>
                  <a:latin typeface="Roboto"/>
                  <a:ea typeface="Roboto"/>
                  <a:cs typeface="Roboto"/>
                  <a:sym typeface="Roboto"/>
                </a:rPr>
                <a:t>Deploy physical LoRa mesh / satellite radio nodes for off-grid alert delivery, paired with automated Sentinel-1 NRT live satellite triggers.</a:t>
              </a:r>
              <a:endParaRPr b="0" sz="130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3" name="Google Shape;173;p23"/>
          <p:cNvGrpSpPr/>
          <p:nvPr/>
        </p:nvGrpSpPr>
        <p:grpSpPr>
          <a:xfrm>
            <a:off x="3333750" y="1285875"/>
            <a:ext cx="2476500" cy="3048000"/>
            <a:chOff x="0" y="0"/>
            <a:chExt cx="2476500" cy="3048000"/>
          </a:xfrm>
        </p:grpSpPr>
        <p:pic>
          <p:nvPicPr>
            <p:cNvPr id="174" name="Google Shape;174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0"/>
              <a:ext cx="2476500" cy="304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5" name="Google Shape;175;p23"/>
            <p:cNvSpPr txBox="1"/>
            <p:nvPr/>
          </p:nvSpPr>
          <p:spPr>
            <a:xfrm>
              <a:off x="0" y="0"/>
              <a:ext cx="24765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0F0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02 . LONG-TERM VISION</a:t>
              </a:r>
              <a:endParaRPr b="1" sz="1100">
                <a:solidFill>
                  <a:srgbClr val="00F0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6M – 1 Year &amp; Beyond</a:t>
              </a:r>
              <a:endParaRPr b="1"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CCCCCC"/>
                  </a:solidFill>
                  <a:latin typeface="Roboto"/>
                  <a:ea typeface="Roboto"/>
                  <a:cs typeface="Roboto"/>
                  <a:sym typeface="Roboto"/>
                </a:rPr>
                <a:t>Expand beyond single basins to a state-wide portfolio covering vulnerable Himalayan flash-flood and GLOF corridors in partnership with SDMAs.</a:t>
              </a:r>
              <a:endParaRPr b="0" sz="130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6" name="Google Shape;176;p23"/>
          <p:cNvGrpSpPr/>
          <p:nvPr/>
        </p:nvGrpSpPr>
        <p:grpSpPr>
          <a:xfrm>
            <a:off x="6096000" y="1285875"/>
            <a:ext cx="2476500" cy="3048000"/>
            <a:chOff x="0" y="0"/>
            <a:chExt cx="2476500" cy="3048000"/>
          </a:xfrm>
        </p:grpSpPr>
        <p:pic>
          <p:nvPicPr>
            <p:cNvPr id="177" name="Google Shape;177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0"/>
              <a:ext cx="2476500" cy="304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8" name="Google Shape;178;p23"/>
            <p:cNvSpPr txBox="1"/>
            <p:nvPr/>
          </p:nvSpPr>
          <p:spPr>
            <a:xfrm>
              <a:off x="0" y="0"/>
              <a:ext cx="24765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0F0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03 . HACKATHON PIVOT</a:t>
              </a:r>
              <a:endParaRPr b="1" sz="1100">
                <a:solidFill>
                  <a:srgbClr val="00F0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Edge Intelligence</a:t>
              </a:r>
              <a:endParaRPr b="1"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CCCCCC"/>
                  </a:solidFill>
                  <a:latin typeface="Roboto"/>
                  <a:ea typeface="Roboto"/>
                  <a:cs typeface="Roboto"/>
                  <a:sym typeface="Roboto"/>
                </a:rPr>
                <a:t>Integrate missing-personnel registries (Track 7.i) and automated evacuation routing that dynamically steers around severed bridges and cut roads.</a:t>
              </a:r>
              <a:endParaRPr b="0" sz="130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24" title="Last Slid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